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2000"/>
            <a:ext cx="12188952" cy="10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메모리 산업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FDBFF"/>
                </a:solidFill>
              </a:rPr>
              <a:t>— 증권 리포트 활용 (대외 공개 자료 기반)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3C5FD"/>
                </a:solidFill>
              </a:rPr>
              <a:t>CHAPTER 1-9  |  DRAM · NAND · HBM · 사이클 · 투자 아이디어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8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3C5FD"/>
                </a:solidFill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메모리 산업의 정의와 원리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1-1. DRAM과 NAND Flash — 메모리 반도체의 두 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8000" y="684000"/>
          <a:ext cx="11612952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84"/>
                <a:gridCol w="3870984"/>
                <a:gridCol w="3870984"/>
              </a:tblGrid>
              <a:tr h="24685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DRAM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NAND Flash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</a:tr>
              <a:tr h="24685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전원 특성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휘발성(Volatile) — 전원 차단 시 데이터 소실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비휘발성(Non-Volatile) — 전원 차단 후에도 데이터 유지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4685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속도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나노초(ns) 단위의 고속 랜덤 액세스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마이크로초(μs)~밀리초 단위, 순차 처리에 강점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5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주 역할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CPU의 작업 메모리(주기억장치)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저장 매체(SSD, 스마트폰 내장 스토리지)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4685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핵심 시장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PC / 서버 / 모바일 / HBM(AI GPU 탑재)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SSD / eMMC / UFS / USB / 데이터센터 스토리지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5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기술 세대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DDR4 → DDR5 → HBM3E → HBM4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2D NAND → 3D V-NAND 200단 이상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4685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주요 공급사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삼성전자 / SK하이닉스 / Micron (3사 과점)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삼성전자 / SK하이닉스 / Micron / Kioxia / WDC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DRAM vs NAND 구조 비교 다이어그램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1-2. 메모리는 Commodity다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표준 규격에 따라 동일 사양의 제품을 여러 공급사가 생산 — 교체 투입 가능 → 가격이 경쟁의 핵심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2023년 이후 HBM이 이 구조를 흔들고 있는 중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Commodity 특성 3가지 파생 현상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① 가격 저항(Price Resistance): 생산원가 이하까지 판가가 하락하면 출하 감소·가격 방어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② 과잉 공급 수렴: 이익 시 공급자 몰림(업사이클), 손해 시 약체 퇴출(다운사이클) → 과점 구조 유지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③ 공급사 간 담합 불가 구조: WTO·반독점법으로 담합 불법. 2002년 DRAM 담합 사건 이후 엄격히 제한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Commodity 가격 사이클 곡선 / 3사 점유율 파이차트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1-3. 공정 전환이 곧 공급이다 — Wafer Input ≠ Bit Supply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핵심 오해: 웨이퍼 투입량(생산량) = Bit 공급량 → 실제는 다름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공정 세대 전환 시 동일 웨이퍼에서 뽑는 Bit 수(Bit Density)가 급격히 증가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감산(Wafer Input 감소) 발표 + 동시 공정 전환 시 Bit 증산 효과가 상쇄·능가 가능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Node 현황 (선단순: SK하이닉스 → Micron → 삼성전자)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삼성: 25.2Q부터 1c | 하이닉스: 24.4Q부터 1c | 마이크론: 25.1Q부터 1c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통상 Node 하나당 Die 수 20~25% 증가 → 완숙 수율 전제 +20% Bit Gain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중국은 1z~16nm 수준 → 1c 대비 약 3단계, 6년 차이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Wafer 수만 보면 안 되는 이유: CXMT vs Micron Bit 비교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Wafer 수 유사 → Bit로 환산 시 1.2³=1.7배 차이, 수율 감안 시 약 3.5배 차이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OMDIA: 25.4Q 기준 Micron 172억 vs 중국 44억 (≈ 3.9배)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Node별 Bit Density 변화 그래프 / 3사+CXMT Wafer Capa 비교 차트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1-4. 메모리 생산은 Re-entrant Flow Shop이다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Re-entrant Flow Shop: 작업이 동일한 기계(공정)를 여러 번 방문하는 순차 공정 모델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작업 경로는 동일하나 재입력 횟수·순서가 추가 고려 → 전통 Flow Shop보다 복잡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무수히 많은 설비를 무수히 많은 경로로 작업 → 가동률 관리가 핵심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규모의 경제 원리가 강하게 작동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시사점: 대규모 팹 운영 경험과 수율 관리 역량이 진입장벽의 핵심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반도체 공정 흐름도(Re-entrant Flow 다이어그램) / 21년말 삼성증권 자료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8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3C5FD"/>
                </a:solidFill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수요와 공급 구조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2-1. 메모리 수요 생태계 — 세그먼트별 특성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① PC/노트북 — 안정적이지만 성숙된 시장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연 2.5억~2.8억 대 수준 성숙기. DDR5 업그레이드·AI PC 전환 수요가 완만한 성장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26.2Q 이후 메모리 가격 상승 → PC 가격 인상·메모리 탑재량 감소 전망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② 모바일 — 계절성이 강한 최대 볼륨 시장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전체 수요의 약 25~30%. 3Q 출시 시즌에 맞춰 2Q에 선주문 집중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26년 글로벌 스마트폰 출하 감소 전망: IDC -3.5~-5.0%, Trendforce -9.4~-15.0%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③ 서버/데이터센터(CSP) — 사이클의 중심축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서버 1대당 DRAM: 일반 512GB → AI 추론 서버 1.5~3TB. LTA 비중 높음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④ HBM/그래픽 — 구조적 성장의 견인차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GPU 1개당 HBM 80~192GB. SK하이닉스 HBM3E 독보적 공급 지위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26년 상반기 기준: HBM4 — 삼성 선행, SK하이닉스 재설계 후 하반기, Micron 내년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세그먼트별 DRAM 수요 비중 파이차트 / HBM 탑재 GPU 구조도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2-2. Bit Demand Growth — 역사적 패턴과 AI 시대 구조 변화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8000" y="684000"/>
          <a:ext cx="11612952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38"/>
                <a:gridCol w="2903238"/>
                <a:gridCol w="2903238"/>
                <a:gridCol w="2903238"/>
              </a:tblGrid>
              <a:tr h="345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시기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DRAM Bit Growth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촉발 요인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특이사항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</a:tr>
              <a:tr h="345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2015~2019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연평균 +20~25%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스마트폰 보급 확산, 클라우드 초기 투자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공급 능력 내 소화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5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2020~2021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+30~35% (급등)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코로나 재택근무·클라우드 폭발적 성장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공급 &gt; 수요 → 재고 빌드업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2022~2023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+5~10% (급락)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소비 위축, 재고 정리, CSP 투자 일시 중단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역대급 다운사이클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5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2024~2025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+20~30% (재가속)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AI 서버 HBM 수요, DDR5 전환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per-server 용량 10배↑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Bit Growth 연도별 막대그래프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2-3. 공급자 과점 구조와 해자(Moat)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DRAM 3사 과점: 삼성전자 42~45%, SK하이닉스 28~32%, Micron 22~25%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4위 플레이어 부재의 이유 — 4가지 구조적 해자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① 천문학적 CapEx: 최신 D램 Fab 1개 건설에 $150~200억 이상 필요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② 수율 확보 기간: 상업 수율(&gt;90%) 달성에 통상 3~5년 소요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③ 누적 특허 장벽: 3사 보유 특허 수만 개, 크로스 라이선스 없이 양산 불가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④ 고객 검증(Qualification): Apple·NVIDIA 등 대형 고객사 공급 자격 취득에 최소 1~2년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2026년 메모리 3사 DRAM 추가 투자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삼성: 내실·미래 동시. Shell First 전략(건물 선착, 장비 유동적). P5L 양산 2028년 이후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SK하이닉스: HBM 주도권 유지. M15x 26년말 월 60K 1b. 용인 1기 준공 2027.2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Micron: PSMC P5 공장 인수(27.H2 가동). 아이다호·뉴욕 Greenfield(27~28년)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중국 CXMT: 정부 지원으로 DDR5 범용 양산 성공. 범용 시장 공급 과잉 압력 변수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3사 글로벌 M/S 추이 차트 / 3사 Capa 투자 계획 타임라인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2-4. HBM이 만든 이중 수급 왜곡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HBM은 범용 DRAM보다 Die Size가 커 → 동일 Wafer에서 Bit 수가 더 적음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2024년 HBM3E 비중 공격적 확대 → 두 가지 동시 효과 발생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① 일반 DRAM 공급 감소: HBM 전환 Capa 증가 → DDR5/DDR4 공급 타이트해짐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② HBM 자체 공급 병목: SK하이닉스 독주, HBM3E 리드타임 6~9개월 이상</a:t>
            </a:r>
          </a:p>
          <a:p>
            <a:pPr lvl="2">
              <a:spcBef>
                <a:spcPts val="200"/>
              </a:spcBef>
            </a:pPr>
            <a:r>
              <a:rPr sz="1200" b="0">
                <a:solidFill>
                  <a:srgbClr val="64748B"/>
                </a:solidFill>
              </a:rPr>
              <a:t>  – → 고정가 일반 DRAM 대비 5~8배 프리미엄 유지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이 이중 공급 압박이 2024년 메모리 전체 가격 강세를 지탱한 구조적 요인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HBM vs 일반 DRAM의 최적 생산 Mix 결정 = 수익성의 가장 중요한 레버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HBM vs 일반DRAM Wafer당 Bit 비교 / Capa 배분 파이차트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8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3C5FD"/>
                </a:solidFill>
              </a:rP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가격 메커니즘 — Spot · Contract · 스프레드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3-1. Spot Price(현물가)와 Contract Price(고정가)의 이중 구조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8000" y="684000"/>
          <a:ext cx="11612952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84"/>
                <a:gridCol w="3870984"/>
                <a:gridCol w="3870984"/>
              </a:tblGrid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Spot Price (현물가)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Contract Price (고정가)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정의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DRAMeXchange 등에서 실시간 거래되는 소량 즉시 거래 가격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삼성·SK하이닉스·Micron이 대형 고객사와 매 분기 협상하는 계약 가격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비중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전체 거래의 10~20%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전체 거래의 80~90%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선행/후행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선행 지표 (수급 변화에 즉각 반응)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후행 지표 (Spot 대비 1~2분기 지연 반영)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활용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시장 긴장도·방향성 선행 포착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실적 예측, ASP 변화 추정의 핵심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모니터링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DRAMeXchange, TrendForce 주간 데이터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분기 실적 발표 + 증권사 리포트 + 고객사 발주 동향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주가는 하락 전환 시 Spot 판가보다 약 1개월 선행, 수출단가보다 4개월 선행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3-2. 스프레드(Premium)의 의미 — 수급 긴장도의 온도계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Spot Premium(스프레드) = 현물가 - 고정가 → 시장 긴장도 측정 핵심 지표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스프레드 급확대 (Spot &gt;&gt; Contract)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현물 물량 부족 신호. 급하게 재고 확보하려는 수요자가 웃돈 지불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이후 분기 고정가 협상에서 업체들이 가격 인상 요구 → Contract 가격 상승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→ 업사이클 진입 또는 심화 신호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스프레드 축소·역전 (Spot &lt; Contract)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Spot 물량이 풀리며 공급 우위 전환 시사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고객이 가격 인하 요구 → Contract 하락 → 다운사이클 경보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스팟판가 급락 시 이 트렌드가 지속될지 주의 필요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Spot vs Contract Price 시계열 차트 (DDR4 8Gb 기준)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3-3. 번 마진(Burn Margin)과 감산 결정 메커니즘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8000" y="684000"/>
          <a:ext cx="11612952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38"/>
                <a:gridCol w="2903238"/>
                <a:gridCol w="2903238"/>
                <a:gridCol w="2903238"/>
              </a:tblGrid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구간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현상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생산기획 대응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원가 이하 판가 지속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Cash Cost를 밑도는 판가 → 팔수록 현금 소진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Wafer 투입량 축소 검토 착수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가격 저항선 형성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'이 가격엔 못 팔아' — 출하 억제, 악성재고 누적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고객사와 가격 재협상, 일부 계약 지연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공식 감산 발표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2023.4 삼성전자 업계 최초 공식 감산 발표 → 심리 전환점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경쟁사 동향 모니터링, 생산 스케줄 조정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악성재고 소진 시작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공급 감소 + 신규 수요 회복 → 재고 소진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Wafer Input 유지 또는 소폭 증가 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업사이클 전환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Spot 스프레드 확대, 고정가 인상 시작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증산 타이밍 검토, 공정 전환 가속화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2023.4 삼성전자 감산 발표 → SK하이닉스·Micron 감산 확대, 고객사 재주문, 투자자 심리 전환 동시 촉발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3-4. LTA(장기공급계약) 구조와 생산기획 딜레마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LTA: Amazon, Microsoft, Google, Meta 등 대형 CSP·스마트폰 OEM과 1~2년 단위 물량·가격 계약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장점 — 안정적 매출 확보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다운사이클에도 안정적 매출 기반 확보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단점(업사이클) — 기회 비용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Spot 급등 시 LTA 고객에게 훨씬 낮은 가격으로 공급 → 기회 이익 손실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단점(다운사이클) — 출하 감소 제약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판가가 원가 이하여도 LTA 약정 물량 공급 의무 → 손실 확대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생산기획 영향 — Mix 조정 자유도 제한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LTA 비중 높을수록 HBM·고부가 제품으로의 Capa 전환 제약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LTA 물량을 지키면서도 고마진 제품 비중을 높이는 균형 관리가 핵심 역량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8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3C5FD"/>
                </a:solidFill>
              </a:rPr>
              <a:t>CHAPTER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사이클의 역사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4-1. 메모리 슈퍼사이클 연표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8000" y="684000"/>
          <a:ext cx="11612952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90"/>
                <a:gridCol w="2322590"/>
                <a:gridCol w="2322590"/>
                <a:gridCol w="2322590"/>
                <a:gridCol w="2322592"/>
              </a:tblGrid>
              <a:tr h="24685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사이클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업황 Peak/Trough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촉발 요인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종료(전환) 요인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</a:tr>
              <a:tr h="24685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2006~2008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업사이클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2007 DRAM 고점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모바일폰·PC 수요 급증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2008 금융위기 → 수요 절벽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4685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2009~2011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반등→하락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2010 반짝 회복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스마트폰 초기 + 서버 투자 재개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공급 과잉 누적 → 가격 붕괴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5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2016~2018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슈퍼사이클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2018 DRAM/NAND 동반 고점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스마트폰 전성기 + 데이터센터 투자 급증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공급 급증 + 미중 무역분쟁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4685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2020~2021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업사이클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2021 H1 고점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COVID 재택근무·클라우드 폭발적 수요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재고 빌드업 과잉 누적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5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2022~2023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역대급 다운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2023 Q2~Q3 바닥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소비 위축 + 재고 절벽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3사 동반 감산 + AI 수요 등장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4685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2024~2025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AI 업사이클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현재 진행 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HBM/AI 서버 수요 폭발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진행 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DRAM 가격 사이클 장기 시계열 차트 (1991~현재)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4-2. 2022~2023 역대급 다운사이클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1단계: 재고 빌드업 (2021 H2~2022 H1)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CSP·스마트폰 OEM들이 공급망 불안 대비 → 재고 8~12주치 → 20주치 이상으로 급증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메모리 업체들은 수요 지속 예상하여 증설 지속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2단계: 수요 절벽 (2022 H2)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인플레이션·금리 인상 → 소비 위축. PC 출하 -17%, 스마트폰 -12% 급감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고객사 신규 발주 중단. 공급 유지+수요 소멸 이중 충격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3단계: 가격 폭락 (2022~2023)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DDR4 8Gb 현물가 고점($8) 대비 최저점($1.3) → 약 -84% 폭락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3사 합산 영업손실 수십조 원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4단계: 동반 감산 (2023 Q1~Q3)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2023.4 삼성전자 업계 최초 공식 감산 발표 → 시장 심리 결정적 전환점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공급 감소 + 악성재고 소진 맞물리며 2023 H2부터 바닥 신호 출현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2022~2023 DDR4 가격 폭락 차트 / 3사 분기 영업이익 추이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4-3. 2024~2025 AI 업사이클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이전 사이클과 두 가지 구조적 차이점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수요 드라이버: PC·스마트폰(소비재) → AI 인프라(구조적 투자)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HBM이라는 새로운 고부가 카테고리 등장 → 메모리 수익성 구조 자체 변화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AI 서버 CapEx 폭발: GPU 탑재 AI 서버 1대 = 일반 서버 대비 10~20배 메모리 필요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SK하이닉스 HBM3E 독주: NVIDIA 최우선 공급사 선정, ASP 일반 DRAM 대비 5~8배 프리미엄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DDR5 전환 가속: 서버 DDR5 전환률 2024년 기준 50% 이상. DDR4 대비 30~50% 프리미엄 ASP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Spot 스프레드 급확대: DDR4/DDR5 스프레드 큰 폭 확대 → 2~3분기 후행 고정가 상승 예고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AI 서버 메모리 구성도 / HBM3E 수익 기여 현황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4-4. 변곡점 포착의 비대칭성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하락 전환 — 조용히 온다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다운사이클은 소리 없이 시작. 시장·언론에 즉시 전달되지 않음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재고 급증 본격화 후 2~3분기가 지나야 애널리스트 리포트·뉴스에 반영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뉴스가 나왔을 때는 이미 하락이 상당히 진행된 이후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상승 전환 — 뉴스와 함께 온다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감산 발표 → 재고 소진 확인 → 고객사 재주문 뉴스 → Spot 급등 → 고정가 인상 발표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뉴스가 나오기 시작할 때는 이미 무릎~허리 구간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내부자 우위 (생산기획 부서)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고객사 PO(발주서) 동향, 재고 레벨, Spot 스프레드 변화를 외부보다 1~2분기 빨리 종합 가능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이것이 메모리 업종 종사자의 정보 우위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사이클 포착 타이밍 비교 다이어그램 (내부자 vs 시장)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8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3C5FD"/>
                </a:solidFill>
              </a:rPr>
              <a:t>CHAPTER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미래 전망 및 현재 사이클 위치 진단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5-1. AI/HBM 시대의 구조적 변화 — Commodity에서 Custom으로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8000" y="684000"/>
          <a:ext cx="11612952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84"/>
                <a:gridCol w="3870984"/>
                <a:gridCol w="3870984"/>
              </a:tblGrid>
              <a:tr h="345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전통 Commodity DRAM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Custom HBM/고부가 DRAM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</a:tr>
              <a:tr h="345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경쟁 방식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가격 경쟁 (원가 절감 = 경쟁력)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기술·수율 경쟁 (품질·납기 = 경쟁력)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5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고객 관계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멀티소싱 (Dual/Triple Source)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독점 또는 우선 공급 협약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ASP 프리미엄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없음 (가격 표준화)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일반 DRAM 대비 5~8배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5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수익성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사이클에 따라 등락이 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고마진 구조, 사이클 내성 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HBM 로드맵: HBM3E(현재) → HBM4(25H2 본격 양산) → HBM4E(26~27년). SK하이닉스 독주 → 삼성이 HBM4에서 반전 시도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5-2. DDR5 전환 가속의 영향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인텔 5세대 제온(Granite Rapids) 및 AMD EPYC가 DDR5 표준 채택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신규 서버 구축의 60% 이상이 DDR5 기반으로 전환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DDR5 전환의 두 가지 긍정 효과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① ASP 상승: DDR4 대비 30~50% 프리미엄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② 전환 초기 수율 비효율 → 실질 공급 감소 효과 → 수급 타이트 유지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5-3. 중국 변수 — CXMT와 YMTC의 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CXMT(창신메모리)·YMTC(양쯔메모리): 정부 지원 아래 의미 있는 양산 능력 구축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CXMT의 위협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DDR4 8Gb 양산 성공, LPDDR4 스마트폰 탑재 시작. 연간 생산 능력 확대 중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범용 DRAM 가격의 하단 지지선 약화 가능성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CXMT의 한계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DDR5, HBM, 1b nm 이하 공정에서 상업 양산 수준 기술 미보유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미국 반도체 장비 수출 규제로 EUV 도입 제한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역설적 상황 (2026년)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한국 업체들의 범용 DRAM 축소 + HBM 증대 전략이 오히려 중국에 기회를 준 상황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26년은 범용 DRAM 전체 공급 부족으로 HBM 판가를 역전하는 사태 발생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5-4. 현재 사이클 위치 진단 (2026년 1분기 기준) — 허리~어깨 구간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8000" y="684000"/>
          <a:ext cx="11612952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38"/>
                <a:gridCol w="2903238"/>
                <a:gridCol w="2903238"/>
                <a:gridCol w="2903238"/>
              </a:tblGrid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현황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세부 내용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시사점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HBM 수급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공급 병목 지속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HBM4 전환 초기 → 일시적 공급 불안. SK하이닉스 독주 유지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긍정적 유지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DDR5 고정가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강세 기조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DDR5 Server 고정가 2025~2026 상방 지지. DDR4는 소폭 하락 압력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혼조세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중국 DRAM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범용 압력 증가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CXMT 범용 DDR4 공급 증가 → 하단 지지선 약화 리스크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부정 리스크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AI 서버 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고성장 지속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NVIDIA Blackwell 아키텍처 출하 가속. CSP 투자 지속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긍정적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NAND 수급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공급 과잉 우려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YMTC의 공격적 증설, 전통 SSD 수요 회복 더딤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부정 리스크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8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3C5FD"/>
                </a:solidFill>
              </a:rPr>
              <a:t>CHAPTER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시장 심층 분석 — 수급·수익성·공정 기술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6-1. 2026년 글로벌 메모리 시장 전망 — 新역사를 향해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8000" y="684000"/>
          <a:ext cx="11612952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38"/>
                <a:gridCol w="2903238"/>
                <a:gridCol w="2903238"/>
                <a:gridCol w="2903238"/>
              </a:tblGrid>
              <a:tr h="345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제품군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2026E 시장 규모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y-y 성장률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</a:tr>
              <a:tr h="345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글로벌 메모리 전체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$5,632억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+157%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사상 최대 시장 규모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5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(전망치 상향)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+175%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범용 DRAM + HBM 동반 성장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HBM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$58.1억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+72% y-y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2023년 $4.1B → 2026년 $58.1B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5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NAND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$1,603억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+131%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서버 eSSD 수요 폭증 + 신제품 효과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한국 메모리 2사 합산 2026년 영업이익 전망치: 303조 → 366조원으로 상향. 2017~2018 슈퍼사이클 고점 돌파 예상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6-2. DRAM 사이클 역사 정리 (1991~2023년)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8000" y="684000"/>
          <a:ext cx="11612952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38"/>
                <a:gridCol w="2903238"/>
                <a:gridCol w="2903238"/>
                <a:gridCol w="2903238"/>
              </a:tblGrid>
              <a:tr h="1570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기간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사이클 방향성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지속 기간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주요 요인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</a:tr>
              <a:tr h="1570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1Q91~4Q95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상승 (Super Cycle)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16개 중 14개 상승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PC 침투율 확대(Win 95), 미국 DRAM 업체 구조조정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570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1Q96~2Q98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하락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10개 중 6개 하락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공급과잉으로 가격 하락 심화, TI 사업부 Micron 인수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0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3Q98~3Q00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상승 (IT 버블)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9개 중 7개 상승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인터넷 열풍, 휴대폰 보급, 현대-LG 합병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570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4Q00~3Q01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하락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4개 중 4개 하락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IT 버블 붕괴, 4차 치킨 게임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0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4Q01~4Q06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상승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21개 중 15개 상승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중국 시장 부상, 노트북 PC 보급 확대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570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1Q07~1Q09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하락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9개 중 6개 하락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글로벌 금융위기, 5차 치킨 게임, Qimonda 파산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0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3Q16~3Q18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상승 (Super Cycle)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9개 중 7개 상승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빅데이터 시대, 서버·데이터센터 수요 급증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570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4Q18~4Q19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하락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5개 중 5개 하락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서버 고객사 재고조정, 미중 무역분쟁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0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1Q20~3Q21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상승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7개 중 5개 상승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팬데믹 비대면 수요, 서버 증설 재개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571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4Q21~2Q23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하락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7개 중 7개 하락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팬데믹 종료 후 기저효과, IT 수요 위축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6-3. 수요의 Snowball Effect — 실수요와 가수요의 중첩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Memory Wall: 연산 장치 속도 향상 대비 메모리 Bandwidth 증가 속도 지연 → AI 혁신의 핵심 과제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생산:수요 비율 = 100:240~250 → 설비투자-완제품 시차 감안 시 품귀 현상 단기 해소 어려움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실수요(Real Demand)의 구조적 확장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서버 중심 실수요 확장: 전 세계 데이터센터 프로젝트, DRAM 구매와 동시에 투입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하이퍼스케일 재고: 현재 적정 수준 이하로 하락. 일부 세트업체 DRAM 품귀로 생산 차질 우려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세트(PC, 모바일) AI 기능 강화: High-End 제품 중심 스펙 업그레이드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가수요 및 재고 확보 수요의 중첩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일부 고객들, 2026년 DRAM 구매 TAM으로 전년대비 100% 성장까지 제시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북미 하이퍼스케일 중심으로 3~5년 장기 공급 계약 체결 요청 쇄도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1Q26 범용 DRAM ASP 전분기 대비 80% 상승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Memory Wall 개념도 / 실수요 vs 가수요 분해 차트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6-4. DRAM 생산 제약 — 공급이 빠르게 늘어나기 어려운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2026년 DRAM 생산 전년대비 24% 성장 수준으로 제한. 유의미한 증가는 2027 H1 이후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① 클린룸(Fab 공간)이 부족하다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삼성전자: P4L만으로 2027년까지 대응. P5L 완제품 생산 기여는 2028 H2 이후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SK하이닉스: 용인 1기 준공 일정 2027.5 → 2027.2 앞당김. 완제품 기여 3Q27부터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Micron: Idaho 1공장, PSMC Fab5만 2028 H1까지 생산 기여 가능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② HBM이 선단공정 Capa를 잠식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HBM3e·HBM4가 최선단공정 Capa(DRAM 1b, 1c)를 잠식. 26H2부터 HBM4e Sample 출하 시작 예정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Trade Ratio 추가 확대 → HBM의 선단공정 Capa 잠식 효과 더욱 심화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③ Tech Migration 효과의 둔화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DRAM 미세화가 한계점. EUV 활용이 오히려 원가 증가 유발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4F Square, 3D DRAM 등 차세대 기술도 원가 증가 구조적 변화 진행 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3사 Fab 가동 타임라인 / HBM Capa 잠식 비율 차트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6-5. HBM 시장 심층 분석 — 중장기 Forecast 상향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8000" y="684000"/>
          <a:ext cx="11612952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90"/>
                <a:gridCol w="2322590"/>
                <a:gridCol w="2322590"/>
                <a:gridCol w="2322590"/>
                <a:gridCol w="2322592"/>
              </a:tblGrid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연도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시장 규모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y-y 성장률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주력 제품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점유율 구도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2023년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$4.1B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(기준)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HBM2e/HBM3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SK하이닉스 독점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2024년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$17.9B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+336%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HBM3/HBM3e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SK하이닉스 약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2025년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$33.8B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+89%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HBM3e 주력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SK하이닉스 ~57%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2026E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$58.1B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+72%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HBM3e + HBM4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SK하이닉스 44%, 삼성 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2027E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$89.6B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+54%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HBM4 + HBM4e(Sample)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3사 경쟁 심화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2026년 HBM 시장 규모가 2023년 전체 DRAM 시장($479억)을 상회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6-6. NAND &amp; 6-7. 판매 구조 변화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6-6. NAND — DRAM 못지 않게 좋아지고 있다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2026년 NAND 시장 전망치: 1,603억 달러 (y-y +131%)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서버 eSSD: HDD 공급 부족 → eSSD 침투율 확대. AI 추론 확산 속 Storage 역할 강조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신제품: 128TB 이상 고용량 eSSD, Gen 6 Controller 기반 eSSD, HBF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Nvidia ICMS: AI 추론 KV Cache 관리용 차세대 메모리 솔루션(DRAM+고부가 NAND 결합)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삼성전자 2D NAND Capa 연내 모두 Shut Down. SK하이닉스 V9 기반 선택적 증산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6-7. 판매 구조 변화의 필요성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기존 분기 시가 계약 vs LTA vs 선수금/예치금 구조 비교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LTA: 장기 사이클 전환 가능성↑, 변동성 Risk↓, 안정적 FCF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선수금/예치금: LTA 장점 극대화, 가장 이상적 계약 구조 (고객 수용 불확실)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판매 구조 변화 현실화 시 → 메모리 사이클 변동성 큰 폭 축소 → Valuation Premium 부여 가능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8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3C5FD"/>
                </a:solidFill>
              </a:rPr>
              <a:t>CHAPTER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투자 아이디어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7-1. LTA가 메모리 사이클 구조를 바꾸는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기존 사이클 문제: 분기 단위 계약 → 수요 폭증 시 추가 인상, 침체 시 가격 급락 → 이익 변동성 극대화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LTA 전환 시: 연 단위 물량·가격 Fix → 사이클 변동성 축소 → 안정적 FCF 창출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기존 LTA의 실패 사례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2017~2018: 슈퍼사이클 당시 Multi-year LTA 제시 → 구두 계약 수준에 그침. 공급 병목 해소 후 입장 선회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2020~2021: 중화권 모바일 중심 LTA 요청 다량 접수 → 실효성 크지 않음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이번의 차별점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법적 구속력을 강화한 LTA 체결 시도. 공급업계 실적발표에서 공통적으로 다년 계약(Multi-year LTA) 언급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LTA vs 분기 계약 이익 변동성 비교 차트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7-2. Dual Market화 — Commodity와 Custom의 공존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8000" y="684000"/>
          <a:ext cx="11612952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84"/>
                <a:gridCol w="3870984"/>
                <a:gridCol w="3870984"/>
              </a:tblGrid>
              <a:tr h="28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Commodity DRAM (범용)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Custom HBM (AI 맞춤형)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가격 결정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시장 수급에 따른 분기별 변동 (Spot/Contract)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고객과의 협의에 의한 LTA 기반 안정 가격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고객 관계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멀티소싱 (Dual/Triple Source)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독점 또는 우선 공급 협약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ASP 프리미엄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없음 (표준화된 가격)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범용 DRAM 대비 5~8배 이상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Leverage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높음 (업황에 직접 연동)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낮음 (안정적 수익 구조)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De-leverage 시점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다운사이클 시작과 함께 급감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LTA로 인해 이익 하방이 지지됨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7-3. AI Scaling Law → Memory Wall → KV Cache 계층구조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① AI Scaling Law — 더 크고, 더 많이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모델 파라미터 수·학습 데이터량·컴퓨팅 파워 증가 → AI 성능 지수적 향상 (경험 법칙)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AI 회사들이 경쟁적으로 모델 크기를 키우고, GPU·메모리 투자를 급격히 확대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② Memory Wall — 속도의 격차가 병목을 만든다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GPU/CPU 처리 속도는 급격히 향상 → 메모리 Bandwidth 증가 속도가 이를 미추격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GPT-3이 Memory Wall 최초 돌파. GPT-4 이후 대형 모델 모두 Memory Wall 영역 위치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HBM은 이 병목을 해소하기 위해 필수적으로 채택되는 솔루션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③ ICMS KV Cache 계층구조 — 메모리 4단계 생태계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G1 (HBM): GPU On-Package. 최고 Bandwidth, 최소 용량. AI 연산 핵심 작업 공간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G2 (DDR5/LPDDR5): 서버 메인 메모리. 중간 Bandwidth. KV Cache 1차 저장소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G3 (eSSD/NVMe): 고속 스토리지. KV Cache Offloading 대상 → NAND 수요 구조적 성장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G4 (HDD/Object Storage): 최대 용량. 장기 데이터 보관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Memory Wall 개념도 / KV Cache 4단계 계층 구조 다이어그램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7-4. 재평가(Revaluation) 논리 — 왜 지금 주가가 오를 수밖에 없는가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기존 Valuation의 문제: 사이클 디스카운트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메모리 주식 = '사이클이 돌아서면 이익 급감' 우려 → 낮은 PER/PBR 배수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삼성전자: 메모리 이익 대부분 임에도 TSMC 대비 크게 낮은 Valuation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LTA 전환이 가져오는 Valuation 상승의 논리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이익 안정성 향상: LTA → 연단위 수익 고정 → EPS 하방 지지 → Forward PER Multiple 상승 정당화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사이클 디스카운트 해소: '다운사이클 이익 급감' 우려 감소 → 낮은 PBR 배수 상향 가능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Dual Market 프리미엄: HBM 비중 증가 → TSMC와 유사한 '기술 파트너' 포지셔닝 가능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목표주가 (SK증권)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삼성전자 (005930): 400,000원 — LTA 전환 시 이익 안정성 + 파운드리 재평가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SK하이닉스 (000660): 2,000,000원 — HBM 압도적 점유율 + Dual Market 프리미엄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주의: 이러한 논리는 21년말에도 동일하게 가져왔다는 사실을 기억할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삼성/SK하이닉스 주가 vs Spot 판가 시계열 비교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7-5. 삼성전자와 SK하이닉스는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DDR5 16Gb 판가 5$ → 35$ (7배 상승) = 주가 5만원 → 20만원 (4배 상승)으로 연계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삼성전자 vs SK하이닉스 주가 패턴 차이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삼성전자: 23년~25년 상반기까지 박스권 진행 후 판가 상승과 동시에 주가 상승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SK하이닉스: 23년~25년 상반기까지 HBM 제품 다변화로 주가 상승 → 범용 DRAM 판가 상승이 +α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25년 상반기까지: 범용 DRAM 판가와 별개로 삼성 후퇴, 하이닉스 진보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판가 상승이 끝났을 때, 판가와 상관없이 기업 가치를 유지할 수 있는 곳은 어디인가?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SK하이닉스: 잘해왔으니 여전히 잘한다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삼성전자: 이제야 HBM 하기 시작 → 이에 대한 가치가 +α될 수 있다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가치판단 싸움은 판가 하락 추세 변동 후부터 시작될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삼성전자 / SK하이닉스 주가 차트 + Spot 판가 오버레이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8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3C5FD"/>
                </a:solidFill>
              </a:rPr>
              <a:t>CHAPTER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메모리 산업 분석의 핵심 프레임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8. 메모리 산업 분석의 5가지 핵심 프레임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프레임 1: 판가(ASP)는 영업이익에 그대로 반영된다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Spot 스프레드를 매주 추적하면 사이클 방향을 6개월~1년 앞서 읽을 수 있다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DRAMeXchange의 Spot/Contract 데이터를 정기 업데이트만으로 외부 애널리스트보다 앞선 시각 확보 가능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프레임 2: Wafer Input ≠ Bit Supply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공정 전환 및 HBM 비율을 반드시 반영하여 실질 공급 변화를 추정해야 한다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이 오류를 범하면 수급 전망이 완전히 어긋난다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프레임 3: 번 마진 구간의 감산 타이밍, LTA 비중 관리, HBM vs 범용의 생산 Mix 결정이 수익성의 핵심 레버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사이클에 수동적으로 끌려가지 말고, 이 세 가지 레버를 선제적으로 조정해야 한다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프레임 4: 하락 전환은 조용히 온다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내부자 정보(PO 동향, 고객 재고, Spot 스프레드)를 연결하면 시장보다 1~2분기 빨리 변곡점 포착 가능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프레임 5: AI/HBM 시대는 메모리 산업을 Commodity에서 Custom으로 변화시키고 있다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이 구조 변화가 일시적 프리미엄인지 영속적 구조 전환인지 판단하는 것이 2026년 이후 전략의 분기점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5가지 프레임 요약 인포그래픽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8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3C5FD"/>
                </a:solidFill>
              </a:rPr>
              <a:t>CHAPTER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메모리 산업 Risk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9-1. AI 투자는 수익성이 있는가?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현재 AI 산업은 수익화 여부나 불확실성보다 기업 생존·시장 선점을 위한 투자로 진행 중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향후 이러한 무조건적인 투자가 지속되기는 어려울 것으로 전망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데이터센터의 전력 문제, CoWoS Capa 등 병목 요인 존재 → 투자 실행도 불확실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긍정적 신호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Anthropic이 급속도로 매출액을 늘려가며 AI 산업이 돈이 된다는 것을 증명 중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Anthropic 상장과 함께 AI 산업의 수익성 논란이 해소될 수 있을 것으로 기대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빅테크 AI CapEx 추이 / Anthropic 매출 성장 추이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9-2. 빅테크는 안정적인 자금이 있는가?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AI 인프라 투자 규모가 커지며 빅테크 내부 자금만으로 투자 어려워짐 → 회사채 발행 증가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이는 잠재적 취약 요인이 될 수 있음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금융 여건 급격히 악화될 경우, 실제 투자·집행 지연으로 연쇄반응 발생 가능성 존재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현재의 직접적 위험이라기보다는: 금융 위기 발생 시 그 악영향이 이전 시기보다 더 커질 수 있는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빅테크 회사채 발행 추이 / 자본조달 구조 비교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9-3. 메모리 기업들의 FAB 증설과 중국의 Capa 증대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26년: FAB 급속 증가 어려운 상황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삼성 P4 / 하이닉스 M15X: 기존 증설분 이어가나 HBM으로 상당 Capa 할당 → 범용 DRAM 증가분 제한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Micron: 신규 FAB 없음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27년말 이후: 공급 전환점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SK하이닉스 용인 FAB, Micron 대만 신규 FAB + 미국 신규 FAB들, 삼성 P5 → 공급 부족 상당수 완화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중국 CXMT 변수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본격 Ramp-Up + Node 개선 + 수율 개선 = Bit 증대 가능성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3사 선단노드 대비 구 노드 개선 → 속도가 상대적으로 빠를 수 밖에 없음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메모리 가격 상승 수혜로 자금까지 확보 → 27~28년 기세는 지금과 다를 수 있음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3사+CXMT FAB 증설 타임라인 / 중국 CXMT Capa 성장 차트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36000"/>
            <a:ext cx="11828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9-4. 공급 vs 수요 — 종합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2952" cy="17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현재: CapEx 증가 + 공급 증대 제한성의 수혜를 메모리 기업들이 받고 있는 상황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27년부터: 본격적인 반대 상황(공급 증가)에 부딪힐 것으로 전망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선제 지표 모니터링이 핵심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이는 결국 '판가'라는 선제지표로 반응이 올 것 → 판가 모니터링으로 충분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판가가 Spot 이슈가 아닌 수요-공급 이슈로 하락 추세로 반전된다면 → 추세가 쉽게 꺾이지 않을 것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293B"/>
                </a:solidFill>
              </a:rPr>
              <a:t>결론적 관점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단기(~26년): 공급 제약·AI CapEx 지속으로 메모리 강세 기조 유지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중기(27년~): 신규 Fab 가동·CXMT Ramp-Up으로 공급 증가 전환점 주의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E406E"/>
                </a:solidFill>
              </a:rPr>
              <a:t>• 핵심 지표: 매주 Spot 판가 + 분기 고정가 협상 동향 추적 필수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56000"/>
            <a:ext cx="12188952" cy="234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2538000"/>
            <a:ext cx="1182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📌 이미지 추천: 27~28년 공급-수요 갭 전망 차트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